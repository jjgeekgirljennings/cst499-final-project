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93049"/>
                </a:solidFill>
                <a:latin typeface="Aptos Display"/>
              </a:rPr>
              <a:t>Online Course Enrollment System</a:t>
            </a:r>
          </a:p>
          <a:p>
            <a:pPr algn="ctr"/>
            <a:r>
              <a:rPr sz="2300">
                <a:solidFill>
                  <a:srgbClr val="2D64A0"/>
                </a:solidFill>
                <a:latin typeface="Aptos"/>
              </a:rPr>
              <a:t>CST499 Final Project Presentation</a:t>
            </a:r>
          </a:p>
        </p:txBody>
      </p:sp>
      <p:pic>
        <p:nvPicPr>
          <p:cNvPr id="5" name="Picture 4" descr="w3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325" y="2880360"/>
            <a:ext cx="4372868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525780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Aptos"/>
              </a:rPr>
              <a:t>Jessica Jennings</a:t>
            </a:r>
          </a:p>
          <a:p>
            <a:pPr algn="ctr"/>
            <a:r>
              <a:rPr sz="1200">
                <a:solidFill>
                  <a:srgbClr val="232323"/>
                </a:solidFill>
                <a:latin typeface="Aptos"/>
              </a:rPr>
              <a:t>CST499: Capstone for Computer Software Technology</a:t>
            </a:r>
          </a:p>
          <a:p>
            <a:pPr algn="ctr"/>
            <a:r>
              <a:rPr sz="1200">
                <a:solidFill>
                  <a:srgbClr val="232323"/>
                </a:solidFill>
                <a:latin typeface="Aptos"/>
              </a:rPr>
              <a:t>Instructor: Charmelia Butler | October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1. Project Purpose and SRS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4864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project is a browser-based Online Course Enrollment System that connects requirements, UML design, PHP implementation, MySQL data, and testing.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Core student functions include account registration, authentication, semester course viewing, enrollment, wait-list participation, and cancellation.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SRS uses unique requirement identifiers so requirements can be traced into design and test activities.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143000"/>
            <a:ext cx="48006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2" y="1252728"/>
            <a:ext cx="447141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Registration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Create an account and profile with a unique user ID, password, name, phone, and email.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359152"/>
            <a:ext cx="48006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468880"/>
            <a:ext cx="447141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Course Enrollment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View semester offerings, enroll when capacity is available, and prevent duplicate enrollment.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575304"/>
            <a:ext cx="48006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3685032"/>
            <a:ext cx="447141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Wait List &amp; Cancellation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Use FIFO waiting-list behavior and notify the first eligible student when a seat becomes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(Tsui et al., 2018; ISO/IEC/IEEE, 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2. Requirements Made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73"/>
                </a:solidFill>
                <a:latin typeface="Aptos"/>
              </a:rPr>
              <a:t>Final SRS revision incorporates instructor feedback on precision and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44168"/>
            <a:ext cx="319125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REG / AUTH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Reject duplicate user IDs; store password hashes rather than plaintext; grant protected access only after valid authentication.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52044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44168"/>
            <a:ext cx="319125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CRS / ENR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Display courses by semester; enforce maximum enrollment; prevent duplicate active enrollment.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234440"/>
            <a:ext cx="352044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344168"/>
            <a:ext cx="319125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WAIT / CAN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Assign FIFO wait-list positions; cancel active enrollments; identify the first eligible wait-listed student when a seat opens.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3063240"/>
            <a:ext cx="3977639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3172968"/>
            <a:ext cx="364845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Performance Criterion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Login, course listing, enrollment confirmation, and cancellation confirmation are defined with a measurable response-time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63240"/>
            <a:ext cx="3977639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172968"/>
            <a:ext cx="364845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93049"/>
                </a:solidFill>
                <a:latin typeface="Aptos"/>
              </a:rPr>
              <a:t>Verification Strategy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t>Use valid, invalid, duplicate, capacity, cancellation, and wait-list scenarios to confirm observable system behavior.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(ISO/IEC/IEEE, 2018; Temoshok et al.,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3. UML Design: Requirements to Structure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20558"/>
            <a:ext cx="5577840" cy="338244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428" y="1051560"/>
            <a:ext cx="5007102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45152"/>
            <a:ext cx="5577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Use case diagram: actors and system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645152"/>
            <a:ext cx="5440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Class diagram: core domain objects and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1069848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Use cases translate SRS functions into interactions for Student and Administrator actors.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Those responsibilities guide the class model: Student, StudentProfile, Course, CourseOffering, Enrollment, and WaitListPosition.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The models provide complementary views rather than separate, unrelated documents.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(Tsui et al., 2018; Object Management Group, 2017)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4. UML Design: Interactions, Workflow, and State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17714"/>
            <a:ext cx="3749039" cy="2494355"/>
          </a:xfrm>
          <a:prstGeom prst="rect">
            <a:avLst/>
          </a:prstGeom>
        </p:spPr>
      </p:pic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669" y="1078992"/>
            <a:ext cx="2967581" cy="2971800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259641"/>
            <a:ext cx="3886200" cy="26105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087368"/>
            <a:ext cx="37490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Sequence: messages during enrollment / wait-list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4087368"/>
            <a:ext cx="34290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Activity: workflow branches on seat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087368"/>
            <a:ext cx="3886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State: enrollment lifecycle transitions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78992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The sequence diagram shows who communicates and in what order; the activity diagram emphasizes decision flow; the state diagram shows how enrollment status changes over time.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Together, the five UML models trace requirements into structure, interactions, workflow, lifecycle behavior, and later testing.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(Object Management Group, 2017)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5. Landing, Login, and Registration Pages</a:t>
            </a:r>
          </a:p>
        </p:txBody>
      </p:sp>
      <p:pic>
        <p:nvPicPr>
          <p:cNvPr id="5" name="Picture 4" descr="w3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703"/>
            <a:ext cx="3657600" cy="1759113"/>
          </a:xfrm>
          <a:prstGeom prst="rect">
            <a:avLst/>
          </a:prstGeom>
        </p:spPr>
      </p:pic>
      <p:pic>
        <p:nvPicPr>
          <p:cNvPr id="6" name="Picture 5" descr="w3_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94131"/>
            <a:ext cx="3657600" cy="1572257"/>
          </a:xfrm>
          <a:prstGeom prst="rect">
            <a:avLst/>
          </a:prstGeom>
        </p:spPr>
      </p:pic>
      <p:pic>
        <p:nvPicPr>
          <p:cNvPr id="7" name="Picture 6" descr="w3_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461" y="1051560"/>
            <a:ext cx="3026117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154680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154680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Student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154680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Student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XAMPP provides Apache, PHP, MySQL/MariaDB, and phpMyAdmin for local development.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Bootstrap-based forms provide consistent controls and responsive layout.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Registration validates required data and sends form values to PHP using POST.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(Tsui et al., 2018; Bootstrap, n.d.)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6. Registration Validation and Persistent User Data</a:t>
            </a:r>
          </a:p>
        </p:txBody>
      </p:sp>
      <p:pic>
        <p:nvPicPr>
          <p:cNvPr id="5" name="Picture 4" descr="w3_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66671"/>
            <a:ext cx="3566160" cy="2247801"/>
          </a:xfrm>
          <a:prstGeom prst="rect">
            <a:avLst/>
          </a:prstGeom>
        </p:spPr>
      </p:pic>
      <p:pic>
        <p:nvPicPr>
          <p:cNvPr id="6" name="Picture 5" descr="w3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246321"/>
            <a:ext cx="3703320" cy="2088500"/>
          </a:xfrm>
          <a:prstGeom prst="rect">
            <a:avLst/>
          </a:prstGeom>
        </p:spPr>
      </p:pic>
      <p:pic>
        <p:nvPicPr>
          <p:cNvPr id="7" name="Picture 6" descr="w3_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07729"/>
            <a:ext cx="3429000" cy="21656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538728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Successful registration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3538728"/>
            <a:ext cx="3703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Registered user record in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538728"/>
            <a:ext cx="34290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Duplicate user/email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69848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The users table stores user ID, profile information, a password hash, and creation time.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Prepared statements bind user-entered values separately from SQL, and password_hash() prevents plaintext password storage.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Duplicate user IDs or email addresses are rejected with user feedback.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(PHP Documentation Group, n.d.; Oracle,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7. MySQL Database and Course Registration</a:t>
            </a:r>
          </a:p>
        </p:txBody>
      </p:sp>
      <p:pic>
        <p:nvPicPr>
          <p:cNvPr id="5" name="Picture 4" descr="w4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35" y="1078992"/>
            <a:ext cx="4934128" cy="2331720"/>
          </a:xfrm>
          <a:prstGeom prst="rect">
            <a:avLst/>
          </a:prstGeom>
        </p:spPr>
      </p:pic>
      <p:pic>
        <p:nvPicPr>
          <p:cNvPr id="6" name="Picture 5" descr="w4_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24635"/>
            <a:ext cx="5394960" cy="2040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456432"/>
            <a:ext cx="5394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Courses table: five Fall course offerings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456432"/>
            <a:ext cx="5394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Enrollments table before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69848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courses table stores course ID, code, name, semester, and maximum enrollment.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enrollments table links the internal user ID to a selected course ID and records the enrollment time.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A unique user/course relationship supports data integrity by preventing duplicate enrollment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(Elmasri &amp; Navathe, 2016; Tsui et al., 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8. Enrollment and Student Schedule Workflow</a:t>
            </a:r>
          </a:p>
        </p:txBody>
      </p:sp>
      <p:pic>
        <p:nvPicPr>
          <p:cNvPr id="5" name="Picture 4" descr="w4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2283"/>
            <a:ext cx="3657600" cy="1281088"/>
          </a:xfrm>
          <a:prstGeom prst="rect">
            <a:avLst/>
          </a:prstGeom>
        </p:spPr>
      </p:pic>
      <p:pic>
        <p:nvPicPr>
          <p:cNvPr id="6" name="Picture 5" descr="w4_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380933"/>
            <a:ext cx="3657600" cy="1343789"/>
          </a:xfrm>
          <a:prstGeom prst="rect">
            <a:avLst/>
          </a:prstGeom>
        </p:spPr>
      </p:pic>
      <p:pic>
        <p:nvPicPr>
          <p:cNvPr id="7" name="Picture 6" descr="w4_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369443"/>
            <a:ext cx="3657600" cy="1366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127248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Available courses retrieved from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3127248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Successful course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3127248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My Class Schedule after adding courses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Selecting Enroll submits the course ID to server-side PHP.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A successful INSERT creates a persistent enrollment record, and the schedule JOIN displays meaningful course information.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implementation demonstrates the connection from front-end action → PHP processing → MySQL state → updated interface.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(Sommerville, 2016; Tsui et al., 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9. Validation and CRUD Operations</a:t>
            </a:r>
          </a:p>
        </p:txBody>
      </p:sp>
      <p:pic>
        <p:nvPicPr>
          <p:cNvPr id="5" name="Picture 4" descr="w4_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74121"/>
            <a:ext cx="3611880" cy="1703716"/>
          </a:xfrm>
          <a:prstGeom prst="rect">
            <a:avLst/>
          </a:prstGeom>
        </p:spPr>
      </p:pic>
      <p:pic>
        <p:nvPicPr>
          <p:cNvPr id="6" name="Picture 5" descr="w4_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05473"/>
            <a:ext cx="3611880" cy="1641013"/>
          </a:xfrm>
          <a:prstGeom prst="rect">
            <a:avLst/>
          </a:prstGeom>
        </p:spPr>
      </p:pic>
      <p:pic>
        <p:nvPicPr>
          <p:cNvPr id="7" name="Picture 6" descr="w4_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11652"/>
            <a:ext cx="3611880" cy="14286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246120"/>
            <a:ext cx="3611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Duplicate enrollment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46120"/>
            <a:ext cx="3611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Drop Course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46120"/>
            <a:ext cx="3611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Database state after course deletion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13632"/>
            <a:ext cx="105156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Create: register a student and add an enrollment.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Read: retrieve available courses and the student's schedule.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Delete: remove the selected enrollment while preserving other records.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Validation protects the database from duplicate enrollment and confirms the resulting persistent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(Elmasri &amp; Navathe, 2016; Sommerville, 2016)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10. PHP Implementation and Project Integration</a:t>
            </a:r>
          </a:p>
        </p:txBody>
      </p:sp>
      <p:pic>
        <p:nvPicPr>
          <p:cNvPr id="5" name="Picture 4" descr="w4_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8703"/>
            <a:ext cx="3383280" cy="2700937"/>
          </a:xfrm>
          <a:prstGeom prst="rect">
            <a:avLst/>
          </a:prstGeom>
        </p:spPr>
      </p:pic>
      <p:pic>
        <p:nvPicPr>
          <p:cNvPr id="6" name="Picture 5" descr="w4_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277" y="987552"/>
            <a:ext cx="2610005" cy="3063240"/>
          </a:xfrm>
          <a:prstGeom prst="rect">
            <a:avLst/>
          </a:prstGeom>
        </p:spPr>
      </p:pic>
      <p:pic>
        <p:nvPicPr>
          <p:cNvPr id="7" name="Picture 6" descr="w4_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066663"/>
            <a:ext cx="4160520" cy="29050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08736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Duplicate check + INSERT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408736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JOIN for registered-course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087368"/>
            <a:ext cx="4160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973"/>
                </a:solidFill>
                <a:latin typeface="Aptos"/>
              </a:rPr>
              <a:t>Parameterized DELETE for course removal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106984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Prepared statements and parameter binding are used for enrollment and deletion operations.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The final implementation demonstrates traceability across SRS requirements, UML design, PHP logic, MySQL data, and observable test evidence.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Testing each operation at both the interface and database levels helped verify that browser actions and stored data remained synchronized.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0424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F6973"/>
                </a:solidFill>
                <a:latin typeface="Aptos"/>
              </a:rPr>
              <a:t>(PHP Documentation Group, n.d.; Tsui et al., 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Bootstrap. (n.d.). Forms. https://getbootstrap.com/docs/5.3/forms/overview/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Elmasri, R., &amp; Navathe, S. B. (2016). Fundamentals of database systems (7th ed.). Pearson.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ISO/IEC/IEEE. (2018). ISO/IEC/IEEE 29148:2018 systems and software engineering—Life cycle processes—Requirements engineering. IEEE.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Object Management Group. (2017). OMG Unified Modeling Language (OMG UML), version 2.5.1.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Oracle. (2026). CREATE TABLE statement. In MySQL 8.4 reference manual.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PHP Documentation Group. (n.d.). mysqli::prepare. PHP manual.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Sommerville, I. (2016). Software engineering (10th ed.). Pearson.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Temoshok, D., et al. (2025). Digital identity guidelines: Authentication and authenticator management (NIST SP 800-63B-4). NIST.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t>Tsui, F., Karam, O., &amp; Bernal, B. (2018). Essentials of software engineering (4th ed.). Jones &amp; Bartlett Learning.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09960" cy="13716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5624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